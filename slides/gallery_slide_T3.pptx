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allery walk" id="{3483b4e5-df03-242c-c6f4-e4e77b501058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2252B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22252B"/>
                </a:solidFill>
                <a:latin typeface="+mn-lt"/>
              </a:rPr>
              <a:t>|Γ| at normal incidence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Fresnel, air→muscle</c:v>
                </c:pt>
              </c:strCache>
            </c:strRef>
          </c:tx>
          <c:spPr>
            <a:solidFill>
              <a:srgbClr val="9AA3AD"/>
            </a:solidFill>
            <a:ln w="101600" cap="flat">
              <a:solidFill>
                <a:srgbClr val="9AA3A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3AD"/>
              </a:solidFill>
              <a:ln w="9525" cap="flat">
                <a:solidFill>
                  <a:srgbClr val="9AA3A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403 MHz</c:v>
                  </c:pt>
                  <c:pt idx="1">
                    <c:v>915 MHz</c:v>
                  </c:pt>
                  <c:pt idx="2">
                    <c:v>2450 MHz</c:v>
                  </c:pt>
                  <c:pt idx="3">
                    <c:v>5800 MHz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0.7904</c:v>
                </c:pt>
                <c:pt idx="1">
                  <c:v>0.7708</c:v>
                </c:pt>
                <c:pt idx="2">
                  <c:v>0.7625</c:v>
                </c:pt>
                <c:pt idx="3">
                  <c:v>0.7567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Script, air→muscle</c:v>
                </c:pt>
              </c:strCache>
            </c:strRef>
          </c:tx>
          <c:spPr>
            <a:solidFill>
              <a:srgbClr val="8E2A3B"/>
            </a:solidFill>
            <a:ln>
              <a:noFill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8E2A3B"/>
              </a:solidFill>
              <a:ln w="9525" cap="flat">
                <a:solidFill>
                  <a:srgbClr val="8E2A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403 MHz</c:v>
                  </c:pt>
                  <c:pt idx="1">
                    <c:v>915 MHz</c:v>
                  </c:pt>
                  <c:pt idx="2">
                    <c:v>2450 MHz</c:v>
                  </c:pt>
                  <c:pt idx="3">
                    <c:v>5800 MHz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0.7904</c:v>
                </c:pt>
                <c:pt idx="1">
                  <c:v>0.7708</c:v>
                </c:pt>
                <c:pt idx="2">
                  <c:v>0.7625</c:v>
                </c:pt>
                <c:pt idx="3">
                  <c:v>0.7567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Script, skin 1.5 / fat 8 / muscle</c:v>
                </c:pt>
              </c:strCache>
            </c:strRef>
          </c:tx>
          <c:spPr>
            <a:solidFill>
              <a:srgbClr val="3F6F73"/>
            </a:solidFill>
            <a:ln w="25400" cap="flat">
              <a:solidFill>
                <a:srgbClr val="3F6F7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F6F73"/>
              </a:solidFill>
              <a:ln w="9525" cap="flat">
                <a:solidFill>
                  <a:srgbClr val="3F6F7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403 MHz</c:v>
                  </c:pt>
                  <c:pt idx="1">
                    <c:v>915 MHz</c:v>
                  </c:pt>
                  <c:pt idx="2">
                    <c:v>2450 MHz</c:v>
                  </c:pt>
                  <c:pt idx="3">
                    <c:v>5800 MHz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0.766</c:v>
                </c:pt>
                <c:pt idx="1">
                  <c:v>0.651</c:v>
                </c:pt>
                <c:pt idx="2">
                  <c:v>0.523</c:v>
                </c:pt>
                <c:pt idx="3">
                  <c:v>0.867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78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.4"/>
        </c:scaling>
        <c:delete val="0"/>
        <c:axPos val="l"/>
        <c:majorGridlines>
          <c:spPr>
            <a:ln w="9525" cap="flat">
              <a:solidFill>
                <a:srgbClr val="E3E6EA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78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2252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Reference: Fresnel with Gabriel 1996 muscle. Test 2 is a lossless quarter-wave layer (eps 3 on eps 9). The stack curve shows why the layered case matters: |Gamma| drops to 0.52 at 2.45 GHz.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_PH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7316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P1-C · Group 3 (T3) · Sprint 1 · analytical multilayer script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Our script matches Fresnel at all four frequencies</a:t>
            </a:r>
            <a:endParaRPr lang="en-US" sz="2600" dirty="0"/>
          </a:p>
        </p:txBody>
      </p:sp>
      <p:graphicFrame>
        <p:nvGraphicFramePr>
          <p:cNvPr id="3" name="gamma-vs-frequency" descr=""/>
          <p:cNvGraphicFramePr/>
          <p:nvPr/>
        </p:nvGraphicFramePr>
        <p:xfrm>
          <a:off x="457200" y="1097280"/>
          <a:ext cx="512064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-gamma"/>
          <p:cNvSpPr txBox="1"/>
          <p:nvPr/>
        </p:nvSpPr>
        <p:spPr>
          <a:xfrm>
            <a:off x="5943600" y="10972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0.7625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5943600" y="1828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|Γ| air→muscle at 2.45 GHz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Fresnel error &lt; 1e-12 (slide: 0.762, 41.9 % enters)</a:t>
            </a:r>
            <a:endParaRPr lang="en-US" sz="1200" dirty="0"/>
          </a:p>
        </p:txBody>
      </p:sp>
      <p:sp>
        <p:nvSpPr>
          <p:cNvPr id="6" name="other-checks"/>
          <p:cNvSpPr txBox="1"/>
          <p:nvPr/>
        </p:nvSpPr>
        <p:spPr>
          <a:xfrm>
            <a:off x="5943600" y="26060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λ/4 match test 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|Γ| = 2e-16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Power balance 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error 7e-10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Muscle δ 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22.33 mm (slide: 2.23 cm)</a:t>
            </a:r>
            <a:endParaRPr lang="en-US" sz="1200" dirty="0"/>
          </a:p>
        </p:txBody>
      </p:sp>
      <p:sp>
        <p:nvSpPr>
          <p:cNvPr id="7" name="surprise-card"/>
          <p:cNvSpPr/>
          <p:nvPr/>
        </p:nvSpPr>
        <p:spPr>
          <a:xfrm>
            <a:off x="5943600" y="3611880"/>
            <a:ext cx="274320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035040" y="3630168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Surprise: </a:t>
            </a:r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the Week 1 δ fit on a 60 mm slab is off by 1.9 % even on the exact field (back-face echo).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Skipping 1.5δ at the bottom brings it to 0.4 %. Feko Model B rows go in the next version of this slide.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1-C Tissue">
  <a:themeElements>
    <a:clrScheme name="P1-C Tissue">
      <a:dk1>
        <a:srgbClr val="22252B"/>
      </a:dk1>
      <a:lt1>
        <a:srgbClr val="FFFFFF"/>
      </a:lt1>
      <a:dk2>
        <a:srgbClr val="5A616B"/>
      </a:dk2>
      <a:lt2>
        <a:srgbClr val="F3F1F2"/>
      </a:lt2>
      <a:accent1>
        <a:srgbClr val="8E2A3B"/>
      </a:accent1>
      <a:accent2>
        <a:srgbClr val="6B7785"/>
      </a:accent2>
      <a:accent3>
        <a:srgbClr val="C9A227"/>
      </a:accent3>
      <a:accent4>
        <a:srgbClr val="3F6F73"/>
      </a:accent4>
      <a:accent5>
        <a:srgbClr val="B5BCC4"/>
      </a:accent5>
      <a:accent6>
        <a:srgbClr val="D9534F"/>
      </a:accent6>
      <a:hlink>
        <a:srgbClr val="3F6F73"/>
      </a:hlink>
      <a:folHlink>
        <a:srgbClr val="6B7785"/>
      </a:folHlink>
    </a:clrScheme>
    <a:fontScheme name="P1-C Tissu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P1-C Group 3 gallery slide</dc:title>
  <dc:subject>PptxGenJS Presentation</dc:subject>
  <dc:creator>Group 3</dc:creator>
  <cp:lastModifiedBy>Group 3</cp:lastModifiedBy>
  <cp:revision>1</cp:revision>
  <dcterms:created xsi:type="dcterms:W3CDTF">2026-10-19T12:07:11Z</dcterms:created>
  <dcterms:modified xsi:type="dcterms:W3CDTF">2026-10-19T12:07:11Z</dcterms:modified>
</cp:coreProperties>
</file>